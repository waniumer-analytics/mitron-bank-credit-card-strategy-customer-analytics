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0" y="457200"/>
            <a:ext cx="2798064" cy="52629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3000" b="1" dirty="0">
                <a:solidFill>
                  <a:srgbClr val="F8FAFC"/>
                </a:solidFill>
                <a:latin typeface="Aptos"/>
              </a:rPr>
              <a:t>MITRON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698480" cy="480131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2700" b="1" dirty="0">
                <a:solidFill>
                  <a:srgbClr val="E8B43E"/>
                </a:solidFill>
                <a:latin typeface="Aptos"/>
              </a:rPr>
              <a:t>Credit Card Strategy &amp; Customer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874519"/>
            <a:ext cx="9601200" cy="310854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600" b="0">
                <a:solidFill>
                  <a:srgbClr val="DCE6F0"/>
                </a:solidFill>
                <a:latin typeface="Aptos"/>
              </a:rPr>
              <a:t>Turning customer behaviour into a data-driven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606040"/>
            <a:ext cx="5166360" cy="233172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816352"/>
            <a:ext cx="4480560" cy="310854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600" b="1" dirty="0">
                <a:solidFill>
                  <a:srgbClr val="E8B43E"/>
                </a:solidFill>
                <a:latin typeface="Aptos"/>
              </a:rPr>
              <a:t>PROJECT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182112"/>
            <a:ext cx="4572000" cy="1567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• Project Type</a:t>
            </a:r>
            <a:r>
              <a:rPr dirty="0"/>
              <a:t>: Business Analytics &amp; Product Strategy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Business Domain: </a:t>
            </a:r>
            <a:r>
              <a:rPr dirty="0"/>
              <a:t>Banking / Credit Cards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Tools</a:t>
            </a:r>
            <a:r>
              <a:rPr dirty="0"/>
              <a:t>: Tableau • SQL • Python • Excel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Dataset</a:t>
            </a:r>
            <a:r>
              <a:rPr dirty="0"/>
              <a:t>: 4,000 customers | 864K transaction records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>
                <a:solidFill>
                  <a:srgbClr val="FFC000"/>
                </a:solidFill>
              </a:rPr>
              <a:t>• Analysis Period</a:t>
            </a:r>
            <a:r>
              <a:rPr dirty="0"/>
              <a:t>: 6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2606040"/>
            <a:ext cx="5303520" cy="233172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2798021"/>
            <a:ext cx="4572000" cy="310854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600" b="1" dirty="0">
                <a:solidFill>
                  <a:srgbClr val="E8B43E"/>
                </a:solidFill>
                <a:latin typeface="Aptos"/>
              </a:rPr>
              <a:t>AUTHOR &amp; 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3218688"/>
            <a:ext cx="182880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0">
                <a:solidFill>
                  <a:srgbClr val="9BACBE"/>
                </a:solidFill>
                <a:latin typeface="Aptos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3502152"/>
            <a:ext cx="4206240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lang="en-US" sz="2400" b="1" dirty="0">
                <a:solidFill>
                  <a:srgbClr val="F8FAFC"/>
                </a:solidFill>
                <a:latin typeface="Aptos"/>
              </a:rPr>
              <a:t>Wani </a:t>
            </a:r>
            <a:r>
              <a:rPr sz="2400" b="1" dirty="0">
                <a:solidFill>
                  <a:srgbClr val="F8FAFC"/>
                </a:solidFill>
                <a:latin typeface="Aptos"/>
              </a:rPr>
              <a:t>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069080"/>
            <a:ext cx="4526280" cy="5943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0">
                <a:solidFill>
                  <a:srgbClr val="DCE6F0"/>
                </a:solidFill>
                <a:latin typeface="Aptos"/>
              </a:rPr>
              <a:t>Objective: identify high-potential customer segments and translate observed behaviour into a credit-card proposition.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900" b="1">
                <a:solidFill>
                  <a:srgbClr val="9BACB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Business Context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6400800" cy="324612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5303520" cy="280077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200" b="1" dirty="0">
                <a:solidFill>
                  <a:srgbClr val="E8B43E"/>
                </a:solidFill>
                <a:latin typeface="Aptos"/>
              </a:rPr>
              <a:t>THE </a:t>
            </a:r>
            <a:r>
              <a:rPr sz="1400" b="1" dirty="0">
                <a:solidFill>
                  <a:srgbClr val="E8B43E"/>
                </a:solidFill>
                <a:latin typeface="Aptos"/>
              </a:rPr>
              <a:t>BUSINESS</a:t>
            </a:r>
            <a:r>
              <a:rPr sz="1200" b="1" dirty="0">
                <a:solidFill>
                  <a:srgbClr val="E8B43E"/>
                </a:solidFill>
                <a:latin typeface="Aptos"/>
              </a:rPr>
              <a:t>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5623560" cy="9144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Mitron Bank wants to enter the credit-card market and needs to understand its existing customer base before designing the product.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337560"/>
            <a:ext cx="5577840" cy="10515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The analysis therefore focuses on identifying customer groups with stronger spending intensity and income utilisation, then translating those patterns into a product strategy.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508760"/>
            <a:ext cx="4114800" cy="3328416"/>
          </a:xfrm>
          <a:prstGeom prst="roundRect">
            <a:avLst/>
          </a:prstGeom>
          <a:solidFill>
            <a:srgbClr val="1C3652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783080"/>
            <a:ext cx="3291840" cy="280077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200" b="1" dirty="0">
                <a:solidFill>
                  <a:srgbClr val="E8B43E"/>
                </a:solidFill>
                <a:latin typeface="Aptos"/>
              </a:rPr>
              <a:t>STRATEGIC </a:t>
            </a:r>
            <a:r>
              <a:rPr sz="1400" b="1" dirty="0">
                <a:solidFill>
                  <a:srgbClr val="E8B43E"/>
                </a:solidFill>
                <a:latin typeface="Aptos"/>
              </a:rPr>
              <a:t>OUTPUT</a:t>
            </a:r>
            <a:endParaRPr sz="1200" b="1" dirty="0">
              <a:solidFill>
                <a:srgbClr val="E8B43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35240" y="2240280"/>
            <a:ext cx="3337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• Target customer segment</a:t>
            </a:r>
          </a:p>
          <a:p>
            <a:pPr>
              <a:spcAft>
                <a:spcPts val="10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• Priority spending categories</a:t>
            </a:r>
          </a:p>
          <a:p>
            <a:pPr>
              <a:spcAft>
                <a:spcPts val="10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• Payment and utilisation insights</a:t>
            </a:r>
          </a:p>
          <a:p>
            <a:pPr>
              <a:spcAft>
                <a:spcPts val="10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• Priority geography</a:t>
            </a:r>
          </a:p>
          <a:p>
            <a:pPr>
              <a:spcAft>
                <a:spcPts val="10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• Credit-card feature proposition</a:t>
            </a:r>
          </a:p>
          <a:p>
            <a:pPr>
              <a:spcAft>
                <a:spcPts val="1000"/>
              </a:spcAft>
              <a:defRPr sz="1400">
                <a:solidFill>
                  <a:srgbClr val="DCE6F0"/>
                </a:solidFill>
                <a:latin typeface="Aptos"/>
              </a:defRPr>
            </a:pPr>
            <a:r>
              <a:t>• KPIs and implementation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Business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10896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9BACBE"/>
                </a:solidFill>
                <a:latin typeface="Aptos"/>
              </a:rPr>
              <a:t>The analysis was structured around five decision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81328"/>
            <a:ext cx="10561320" cy="713232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645920"/>
            <a:ext cx="411480" cy="2286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1">
                <a:solidFill>
                  <a:srgbClr val="E8B43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00200"/>
            <a:ext cx="283464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WHO TO TARGET?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6537960" cy="34747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0">
                <a:solidFill>
                  <a:srgbClr val="DCE6F0"/>
                </a:solidFill>
                <a:latin typeface="Aptos"/>
              </a:rPr>
              <a:t>Which customer segments show the strongest opportunity?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395728"/>
            <a:ext cx="10561320" cy="713232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2560320"/>
            <a:ext cx="411480" cy="2286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1">
                <a:solidFill>
                  <a:srgbClr val="E8B43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514600"/>
            <a:ext cx="283464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WHERE DO THEY SPEND?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514600"/>
            <a:ext cx="6537960" cy="34747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0">
                <a:solidFill>
                  <a:srgbClr val="DCE6F0"/>
                </a:solidFill>
                <a:latin typeface="Aptos"/>
              </a:rPr>
              <a:t>Which categories and customer groups drive spending?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310128"/>
            <a:ext cx="10561320" cy="713232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3474720"/>
            <a:ext cx="411480" cy="2286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1">
                <a:solidFill>
                  <a:srgbClr val="E8B43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429000"/>
            <a:ext cx="283464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HOW DO THEY PAY?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29000"/>
            <a:ext cx="6537960" cy="34747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0">
                <a:solidFill>
                  <a:srgbClr val="DCE6F0"/>
                </a:solidFill>
                <a:latin typeface="Aptos"/>
              </a:rPr>
              <a:t>What payment-mode patterns are visible?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24528"/>
            <a:ext cx="10561320" cy="713232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4389120"/>
            <a:ext cx="411480" cy="2286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1">
                <a:solidFill>
                  <a:srgbClr val="E8B43E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343400"/>
            <a:ext cx="283464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HOW MUCH INCOME IS UTILised?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343400"/>
            <a:ext cx="6537960" cy="34747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0">
                <a:solidFill>
                  <a:srgbClr val="DCE6F0"/>
                </a:solidFill>
                <a:latin typeface="Aptos"/>
              </a:rPr>
              <a:t>Which groups have higher spending relative to income?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138928"/>
            <a:ext cx="10561320" cy="713232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5303520"/>
            <a:ext cx="411480" cy="2286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1">
                <a:solidFill>
                  <a:srgbClr val="E8B43E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5257800"/>
            <a:ext cx="283464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F8FAFC"/>
                </a:solidFill>
                <a:latin typeface="Aptos"/>
              </a:rPr>
              <a:t>WHAT SHOULD MITRON OFFER?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257800"/>
            <a:ext cx="6537960" cy="34747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0">
                <a:solidFill>
                  <a:srgbClr val="DCE6F0"/>
                </a:solidFill>
                <a:latin typeface="Aptos"/>
              </a:rPr>
              <a:t>How can the findings translate into card features?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Data Overview &amp;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560320" cy="12801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Customer master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560320" cy="12801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864K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Spending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560320" cy="12801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PERIOD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May–October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508760"/>
            <a:ext cx="2560320" cy="12801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CATEGORIES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Spending categories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54680"/>
            <a:ext cx="5257800" cy="3054096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401568"/>
            <a:ext cx="429768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CUSTOMER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794760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Customer ID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Age Group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City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Occupation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Gender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Marital Status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Average Income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154680"/>
            <a:ext cx="5257800" cy="3054096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401568"/>
            <a:ext cx="429768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SPEND 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794760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Customer ID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Month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Category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Payment Type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Spend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rPr dirty="0"/>
              <a:t>• 4 payment modes: Credit Card, UPI, Debit Card, Net Banking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Data Quality &amp; Analytical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3127248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DATA QUALITY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4348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No missing values identified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No duplicate customer IDs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No duplicate spend records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All spend Customer IDs matched the customer table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Every customer has 216 spend rows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6 months × 9 categories × 4 payment modes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087368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ANALYTICAL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1. EDA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70048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2. 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45536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3. Spending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21024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4. Income Utilisation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96512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1">
                <a:solidFill>
                  <a:srgbClr val="F8FAFC"/>
                </a:solidFill>
                <a:latin typeface="Aptos"/>
              </a:rPr>
              <a:t>5. Target Segment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0">
                <a:solidFill>
                  <a:srgbClr val="DCE6F0"/>
                </a:solidFill>
                <a:latin typeface="Aptos"/>
              </a:rPr>
              <a:t>6. Secondary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047488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0">
                <a:solidFill>
                  <a:srgbClr val="DCE6F0"/>
                </a:solidFill>
                <a:latin typeface="Aptos"/>
              </a:rPr>
              <a:t>7. Product 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Customer Demographics: Where Is the Scale?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81912"/>
            <a:ext cx="2231136" cy="218521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 dirty="0">
                <a:solidFill>
                  <a:srgbClr val="9BACBE"/>
                </a:solidFill>
                <a:latin typeface="Aptos"/>
              </a:rPr>
              <a:t>AGE </a:t>
            </a:r>
            <a:r>
              <a:rPr sz="1000" b="1" dirty="0">
                <a:solidFill>
                  <a:srgbClr val="00B050"/>
                </a:solidFill>
                <a:latin typeface="Aptos"/>
              </a:rPr>
              <a:t>25–34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901952"/>
            <a:ext cx="2231136" cy="403187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 dirty="0">
                <a:solidFill>
                  <a:srgbClr val="FFC000"/>
                </a:solidFill>
                <a:latin typeface="Aptos"/>
              </a:rPr>
              <a:t>1,498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404872"/>
            <a:ext cx="2231136" cy="23391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 dirty="0">
                <a:solidFill>
                  <a:srgbClr val="DCE6F0"/>
                </a:solidFill>
                <a:latin typeface="Aptos"/>
              </a:rPr>
              <a:t>37.45% of </a:t>
            </a:r>
            <a:r>
              <a:rPr sz="1100" b="0" dirty="0">
                <a:solidFill>
                  <a:srgbClr val="DCE6F0"/>
                </a:solidFill>
                <a:latin typeface="Aptos"/>
              </a:rPr>
              <a:t>customers</a:t>
            </a:r>
            <a:endParaRPr sz="950" b="0" dirty="0">
              <a:solidFill>
                <a:srgbClr val="DCE6F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2900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1581912"/>
            <a:ext cx="2231136" cy="218521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 dirty="0">
                <a:solidFill>
                  <a:srgbClr val="9BACBE"/>
                </a:solidFill>
                <a:latin typeface="Aptos"/>
              </a:rPr>
              <a:t>AGE </a:t>
            </a:r>
            <a:r>
              <a:rPr sz="1000" b="1" dirty="0">
                <a:solidFill>
                  <a:srgbClr val="00B050"/>
                </a:solidFill>
                <a:latin typeface="Aptos"/>
              </a:rPr>
              <a:t>35–45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01952"/>
            <a:ext cx="2231136" cy="403187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 dirty="0">
                <a:solidFill>
                  <a:srgbClr val="FFC000"/>
                </a:solidFill>
                <a:latin typeface="Aptos"/>
              </a:rPr>
              <a:t>1,273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404872"/>
            <a:ext cx="2231136" cy="226216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0" dirty="0">
                <a:solidFill>
                  <a:srgbClr val="DCE6F0"/>
                </a:solidFill>
                <a:latin typeface="Aptos"/>
              </a:rPr>
              <a:t>31.83% of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581912"/>
            <a:ext cx="2231136" cy="218521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00B050"/>
                </a:solidFill>
                <a:latin typeface="Aptos"/>
              </a:rPr>
              <a:t>SALARIED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01952"/>
            <a:ext cx="2231136" cy="403187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FC000"/>
                </a:solidFill>
                <a:latin typeface="Aptos"/>
              </a:rPr>
              <a:t>1,294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04872"/>
            <a:ext cx="2231136" cy="23391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0" dirty="0">
                <a:solidFill>
                  <a:srgbClr val="DCE6F0"/>
                </a:solidFill>
                <a:latin typeface="Aptos"/>
              </a:rPr>
              <a:t>32.35% of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71432" y="1581912"/>
            <a:ext cx="2231136" cy="218521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00B050"/>
                </a:solidFill>
                <a:latin typeface="Aptos"/>
              </a:rPr>
              <a:t>MUMBAI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1901952"/>
            <a:ext cx="2231136" cy="403187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 dirty="0">
                <a:solidFill>
                  <a:srgbClr val="FFC000"/>
                </a:solidFill>
                <a:latin typeface="Aptos"/>
              </a:rPr>
              <a:t>1,078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404872"/>
            <a:ext cx="2231136" cy="226216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0" dirty="0">
                <a:solidFill>
                  <a:srgbClr val="DCE6F0"/>
                </a:solidFill>
                <a:latin typeface="Aptos"/>
              </a:rPr>
              <a:t>Largest city by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7" y="3355848"/>
            <a:ext cx="5257800" cy="21488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520440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OTHER DEMOGRAPHIC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88620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Male: 64.92%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Married: 78.40%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Middle Class: 56.05%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Lower Class: 42.73%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Upper Class: 1.23% — small base, interpret cautiously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9340" y="3355848"/>
            <a:ext cx="5257800" cy="21488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520440"/>
            <a:ext cx="448056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OBSERVATION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31920"/>
            <a:ext cx="4434840" cy="9601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25–45 forms the dominant customer base. Demographics establish scale, but spending and utilisation are needed to identify the acquisition opportunity.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Spending Analysis: What Customers Already Buy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1031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58191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BILLS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01952"/>
            <a:ext cx="17739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₹17.49M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40487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3784" y="1463040"/>
            <a:ext cx="21031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8376" y="158191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GROCERIES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1901952"/>
            <a:ext cx="17739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₹14.38M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40487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4648" y="1463040"/>
            <a:ext cx="21031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58191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ELECTRONICS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901952"/>
            <a:ext cx="17739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₹13.26M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40487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25512" y="1463040"/>
            <a:ext cx="21031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0104" y="158191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HEALTH &amp; WELLNESS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1901952"/>
            <a:ext cx="17739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₹10.93M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0104" y="240487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66376" y="1463040"/>
            <a:ext cx="21031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30968" y="158191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TRAVEL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1901952"/>
            <a:ext cx="17739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₹9.87M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30968" y="2404872"/>
            <a:ext cx="17739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246120"/>
            <a:ext cx="5257800" cy="21488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352044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AGE GROUP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886200"/>
            <a:ext cx="233172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4005072"/>
            <a:ext cx="20025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25–34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325112"/>
            <a:ext cx="20025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₹33.89M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4599432"/>
            <a:ext cx="20025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Highest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3886200"/>
            <a:ext cx="2148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85032" y="4005072"/>
            <a:ext cx="181965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35–45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5032" y="4325112"/>
            <a:ext cx="181965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₹31.77M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5032" y="4599432"/>
            <a:ext cx="181965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Second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246120"/>
            <a:ext cx="5257800" cy="21488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352044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OCCUPATION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3913632"/>
            <a:ext cx="4389120" cy="8229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400" b="1">
                <a:solidFill>
                  <a:srgbClr val="DCE6F0"/>
                </a:solidFill>
                <a:latin typeface="Aptos"/>
              </a:rPr>
              <a:t>Salaried IT employees generated approximately ₹40.62M in 6-month spend — the highest among occupations.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4892040"/>
            <a:ext cx="4389120" cy="32004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00" b="0">
                <a:solidFill>
                  <a:srgbClr val="9BACBE"/>
                </a:solidFill>
                <a:latin typeface="Aptos"/>
              </a:rPr>
              <a:t>Implication: prioritise everyday and high-value purchase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Payment Behaviour: Credit + Digital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CREDIT 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₹36.05M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5059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UPI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₹23.47M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45059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50876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DEBIT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₹19.93M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45059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50876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162763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NET BANKING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94767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₹9.03M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450591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6-month spend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6629400" cy="2240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3520440"/>
            <a:ext cx="502920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CATEGORY OBSERVATION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913632"/>
            <a:ext cx="5897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Credit Card has the largest observed payment-mode spend.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Credit Card is especially prominent in Travel, Electronics and Bills.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UPI is particularly relevant in Groceries and Food.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This supports a proposition combining credit rewards with digital convenience.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3246120"/>
            <a:ext cx="3840480" cy="2240280"/>
          </a:xfrm>
          <a:prstGeom prst="roundRect">
            <a:avLst/>
          </a:prstGeom>
          <a:solidFill>
            <a:srgbClr val="1C3652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3520440"/>
            <a:ext cx="30175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IMPORTANT CAVEAT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977639"/>
            <a:ext cx="2971800" cy="9601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300" b="0">
                <a:solidFill>
                  <a:srgbClr val="DCE6F0"/>
                </a:solidFill>
                <a:latin typeface="Aptos"/>
              </a:rPr>
              <a:t>Payment mix is spending behaviour in this dataset — not proof of card ownership, preference or future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Income Utilisation: Where Is Spending Intensity Higher?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8191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OVERALL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0195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42.82%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Average spend / average income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9312" y="158191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SALARIED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190195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51.04%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Highest occupation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1" y="158191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AGE 35–45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190195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46.72%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Highest age group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560320" cy="13258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158191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MUMBAI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901952"/>
            <a:ext cx="223113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51.43%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404872"/>
            <a:ext cx="223113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Visible city utilisation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5257800" cy="2240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52044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OTHER UTILISATION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913632"/>
            <a:ext cx="4480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Freelancers: 45.80%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Salaried Other: 42.10%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Business Owners: 33.22%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Government Employees: 29.00%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Male: 44.39% | Female: 39.92%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5257800" cy="2240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52044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INTERPRETATION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31920"/>
            <a:ext cx="4434840" cy="109728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400" b="0">
                <a:solidFill>
                  <a:srgbClr val="DCE6F0"/>
                </a:solidFill>
                <a:latin typeface="Aptos"/>
              </a:rPr>
              <a:t>Higher utilisation is used here as a project indicator of stronger potential credit-card usage. It is an association, not evidence of causality or creditworthiness.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Target Segment: Salaried IT Professionals Aged 25–45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423160" cy="13716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81912"/>
            <a:ext cx="209397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01952"/>
            <a:ext cx="209397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880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50592"/>
            <a:ext cx="209397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22% of total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423160" cy="13716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0712" y="1581912"/>
            <a:ext cx="209397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UTILISATION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901952"/>
            <a:ext cx="209397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53.52%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2450592"/>
            <a:ext cx="209397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Target-segment ratio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463040"/>
            <a:ext cx="2423160" cy="13716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1581912"/>
            <a:ext cx="209397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AVG MONTHLY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1901952"/>
            <a:ext cx="209397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₹34,276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450592"/>
            <a:ext cx="209397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Per customer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463040"/>
            <a:ext cx="2743200" cy="13716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14232" y="1581912"/>
            <a:ext cx="24140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CC SPENDING SHARE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1901952"/>
            <a:ext cx="241401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43.77%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2450592"/>
            <a:ext cx="24140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Observed payment mix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337560"/>
            <a:ext cx="5257800" cy="2340864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61188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WHY THIS SEGMENT?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977639"/>
            <a:ext cx="4434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Large customer base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Highest occupation utilisation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Highest occupation spend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Strong observed credit-card spending share</a:t>
            </a:r>
          </a:p>
          <a:p>
            <a:pPr>
              <a:spcAft>
                <a:spcPts val="1000"/>
              </a:spcAft>
              <a:defRPr sz="1250">
                <a:solidFill>
                  <a:srgbClr val="DCE6F0"/>
                </a:solidFill>
                <a:latin typeface="Aptos"/>
              </a:defRPr>
            </a:pPr>
            <a:r>
              <a:t>• Core age range with high spending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337560"/>
            <a:ext cx="5257800" cy="2340864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3611880"/>
            <a:ext cx="438912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00" b="1">
                <a:solidFill>
                  <a:srgbClr val="E8B43E"/>
                </a:solidFill>
                <a:latin typeface="Aptos"/>
              </a:rPr>
              <a:t>MUMBAI MICRO-MARKET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77639"/>
            <a:ext cx="4297680" cy="38404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229 customers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4462272"/>
            <a:ext cx="4389120" cy="5943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250" b="0">
                <a:solidFill>
                  <a:srgbClr val="DCE6F0"/>
                </a:solidFill>
                <a:latin typeface="Aptos"/>
              </a:rPr>
              <a:t>65.29% utilisation  •  ₹41,816 avg monthly spend  •  ~10.82% of total spend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Secondary Research: Validating Product Mechanisms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11430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54480"/>
            <a:ext cx="47548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1">
                <a:solidFill>
                  <a:srgbClr val="E8B43E"/>
                </a:solidFill>
                <a:latin typeface="Aptos"/>
              </a:rPr>
              <a:t>BILLS &amp; MERCHANT REWARDS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901952"/>
            <a:ext cx="4754880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Category/merchant rewards are established credit-card mechanisms.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1430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1">
                <a:solidFill>
                  <a:srgbClr val="9BACBE"/>
                </a:solidFill>
                <a:latin typeface="Aptos"/>
              </a:rPr>
              <a:t>GROCERY OFFERS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01952"/>
            <a:ext cx="4754880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Grocery discounts and merchant partnerships are commonly used.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5212080" cy="11430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2971800"/>
            <a:ext cx="47548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1">
                <a:solidFill>
                  <a:srgbClr val="9BACBE"/>
                </a:solidFill>
                <a:latin typeface="Aptos"/>
              </a:rPr>
              <a:t>ELECTRONICS + EMI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319272"/>
            <a:ext cx="4754880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Electronics promotions and EMI can support high-value purchases.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12080" cy="11430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971800"/>
            <a:ext cx="47548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1">
                <a:solidFill>
                  <a:srgbClr val="9BACBE"/>
                </a:solidFill>
                <a:latin typeface="Aptos"/>
              </a:rPr>
              <a:t>RUPAY + UPI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19272"/>
            <a:ext cx="4754880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RBI has enabled RuPay credit cards to be linked with UPI.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5212080" cy="114300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4389120"/>
            <a:ext cx="47548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50" b="1">
                <a:solidFill>
                  <a:srgbClr val="9BACBE"/>
                </a:solidFill>
                <a:latin typeface="Aptos"/>
              </a:rPr>
              <a:t>TRAVEL OFFERS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736592"/>
            <a:ext cx="4754880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Travel discounts and rewards are established card propositions.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98480" cy="23391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100" b="0" dirty="0">
                <a:solidFill>
                  <a:srgbClr val="FFC000"/>
                </a:solidFill>
                <a:latin typeface="Aptos"/>
              </a:rPr>
              <a:t>Research validates the availability of these mechanisms in the market; it does not establish the optimal reward rates or economics for </a:t>
            </a:r>
            <a:r>
              <a:rPr sz="1100" b="0" dirty="0" err="1">
                <a:solidFill>
                  <a:srgbClr val="FFC000"/>
                </a:solidFill>
                <a:latin typeface="Aptos"/>
              </a:rPr>
              <a:t>Mitron</a:t>
            </a:r>
            <a:r>
              <a:rPr sz="1100" b="0" dirty="0">
                <a:solidFill>
                  <a:srgbClr val="FFC000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Product Recommendation: Mitron Everyday Rewards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10896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9BACBE"/>
                </a:solidFill>
                <a:latin typeface="Aptos"/>
              </a:rPr>
              <a:t>Reward customers for the spending they already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749808"/>
          </a:xfrm>
          <a:prstGeom prst="roundRect">
            <a:avLst/>
          </a:prstGeom>
          <a:solidFill>
            <a:srgbClr val="1C3652"/>
          </a:solidFill>
          <a:ln>
            <a:solidFill>
              <a:srgbClr val="E8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28700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PRIMARY TARGET: Salaried IT professionals aged 25–45   |   PRIORITY MARKET: Mumbai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14600"/>
            <a:ext cx="3291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9260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E8B43E"/>
                </a:solidFill>
                <a:latin typeface="Aptos"/>
              </a:rPr>
              <a:t>BILLS &amp; UTILITIES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4"/>
            <a:ext cx="29260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Core everyday benefit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514600"/>
            <a:ext cx="3291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29260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E8B43E"/>
                </a:solidFill>
                <a:latin typeface="Aptos"/>
              </a:rPr>
              <a:t>GROCERIES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26664"/>
            <a:ext cx="29260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Core everyday benefit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514600"/>
            <a:ext cx="3291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29260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ELECTRONICS + EMI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26664"/>
            <a:ext cx="29260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High-value purchase support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3291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40"/>
            <a:ext cx="29260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RUPAY + UPI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52544"/>
            <a:ext cx="29260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Digital convenience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40480"/>
            <a:ext cx="3291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3977640"/>
            <a:ext cx="29260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TRAVEL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52544"/>
            <a:ext cx="29260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Secondary lifestyle benefit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40480"/>
            <a:ext cx="3291840" cy="109728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977640"/>
            <a:ext cx="2926080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SIMPLE REWARDS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352544"/>
            <a:ext cx="29260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150" b="0">
                <a:solidFill>
                  <a:srgbClr val="DCE6F0"/>
                </a:solidFill>
                <a:latin typeface="Aptos"/>
              </a:rPr>
              <a:t>Easy to understand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69280"/>
            <a:ext cx="10424160" cy="241605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150" b="1" dirty="0">
                <a:solidFill>
                  <a:srgbClr val="FFC000"/>
                </a:solidFill>
                <a:latin typeface="Aptos"/>
              </a:rPr>
              <a:t>Do not set reward rates or annual fees from this analysis alone — validate through unit economics, risk and profitability modelling.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How Success Should Be Measured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33375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200" b="1">
                <a:solidFill>
                  <a:srgbClr val="E8B43E"/>
                </a:solidFill>
                <a:latin typeface="Aptos"/>
              </a:rPr>
              <a:t>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2743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Applications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Approval rate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Activation rate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CAC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08760"/>
            <a:ext cx="3429000" cy="33375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1783080"/>
            <a:ext cx="292608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200" b="1">
                <a:solidFill>
                  <a:srgbClr val="E8B43E"/>
                </a:solidFill>
                <a:latin typeface="Aptos"/>
              </a:rPr>
              <a:t>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240280"/>
            <a:ext cx="2743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Monthly active cardholders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Transactions / card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Monthly spend / card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Category 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508760"/>
            <a:ext cx="3429000" cy="333756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1783080"/>
            <a:ext cx="2926080" cy="2743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200" b="1">
                <a:solidFill>
                  <a:srgbClr val="E8B43E"/>
                </a:solidFill>
                <a:latin typeface="Aptos"/>
              </a:rPr>
              <a:t>FINANCIAL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40280"/>
            <a:ext cx="2743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Revenue / card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Reward cost / card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CAC payback</a:t>
            </a:r>
          </a:p>
          <a:p>
            <a:pPr>
              <a:spcAft>
                <a:spcPts val="1000"/>
              </a:spcAft>
              <a:defRPr sz="1300">
                <a:solidFill>
                  <a:srgbClr val="DCE6F0"/>
                </a:solidFill>
                <a:latin typeface="Aptos"/>
              </a:defRPr>
            </a:pPr>
            <a:r>
              <a:t>• Credit losses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166360"/>
            <a:ext cx="10744200" cy="685800"/>
          </a:xfrm>
          <a:prstGeom prst="roundRect">
            <a:avLst/>
          </a:prstGeom>
          <a:solidFill>
            <a:srgbClr val="1C3652"/>
          </a:solidFill>
          <a:ln>
            <a:solidFill>
              <a:srgbClr val="E8B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5367528"/>
            <a:ext cx="10241280" cy="32004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250" b="1">
                <a:solidFill>
                  <a:srgbClr val="DCE6F0"/>
                </a:solidFill>
                <a:latin typeface="Aptos"/>
              </a:rPr>
              <a:t>Implementation principle: launch with a focused proposition, test customer response, then optimise rewards using actual unit economics and portfolio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Conclusion &amp; Strategic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713232" cy="45720"/>
          </a:xfrm>
          <a:prstGeom prst="rect">
            <a:avLst/>
          </a:prstGeom>
          <a:solidFill>
            <a:srgbClr val="E8B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750" b="0">
                <a:solidFill>
                  <a:srgbClr val="9BACBE"/>
                </a:solidFill>
                <a:latin typeface="Aptos"/>
              </a:rPr>
              <a:t>MITRON BANK  |  CREDIT CARD STRATEGY &amp;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20040" cy="201168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r"/>
            <a:r>
              <a:rPr sz="850" b="1">
                <a:solidFill>
                  <a:srgbClr val="9BACBE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300" b="1">
                <a:solidFill>
                  <a:srgbClr val="E8B43E"/>
                </a:solidFill>
                <a:latin typeface="Aptos"/>
              </a:rPr>
              <a:t>BUILD A CARD AROUND EXISTING CUSTOMER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61320" cy="114300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2100" b="1">
                <a:solidFill>
                  <a:srgbClr val="F8FAFC"/>
                </a:solidFill>
                <a:latin typeface="Aptos"/>
              </a:rPr>
              <a:t>Target Salaried IT professionals aged 25–45 with an everyday-rewards proposition built around Bills, Groceries and Electronics — enabled by UPI and transparent EMI, with Travel as a secondary benefit.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03320"/>
            <a:ext cx="3200400" cy="12344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3822191"/>
            <a:ext cx="28712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TARGET UTILISATION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142231"/>
            <a:ext cx="287121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53.52%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53712"/>
            <a:ext cx="28712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Salaried IT, age 25–45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703320"/>
            <a:ext cx="3200400" cy="12344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3822191"/>
            <a:ext cx="28712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SPEND CONTRIBUTION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142231"/>
            <a:ext cx="287121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~34%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553712"/>
            <a:ext cx="28712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Of total 6-month spend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03320"/>
            <a:ext cx="3200400" cy="1234440"/>
          </a:xfrm>
          <a:prstGeom prst="roundRect">
            <a:avLst/>
          </a:prstGeom>
          <a:solidFill>
            <a:srgbClr val="162C44"/>
          </a:solidFill>
          <a:ln>
            <a:solidFill>
              <a:srgbClr val="356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3822191"/>
            <a:ext cx="28712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1000" b="1">
                <a:solidFill>
                  <a:srgbClr val="9BACBE"/>
                </a:solidFill>
                <a:latin typeface="Aptos"/>
              </a:rPr>
              <a:t>PRIORITY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42231"/>
            <a:ext cx="2871216" cy="43891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Mumbai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4553712"/>
            <a:ext cx="2871216" cy="256032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l"/>
            <a:r>
              <a:rPr sz="950" b="0">
                <a:solidFill>
                  <a:srgbClr val="DCE6F0"/>
                </a:solidFill>
                <a:latin typeface="Aptos"/>
              </a:rPr>
              <a:t>High-intensity micro-market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10149840" cy="50292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500" b="1">
                <a:solidFill>
                  <a:srgbClr val="DCE6F0"/>
                </a:solidFill>
                <a:latin typeface="Aptos"/>
              </a:rPr>
              <a:t>Central idea: don't build the card around what customers might want; build it around where customers are already spending.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989320"/>
            <a:ext cx="2743200" cy="365760"/>
          </a:xfrm>
          <a:prstGeom prst="rect">
            <a:avLst/>
          </a:prstGeom>
          <a:noFill/>
        </p:spPr>
        <p:txBody>
          <a:bodyPr wrap="square" lIns="32004" tIns="32004" rIns="32004" bIns="32004">
            <a:spAutoFit/>
          </a:bodyPr>
          <a:lstStyle/>
          <a:p>
            <a:pPr algn="ctr"/>
            <a:r>
              <a:rPr sz="1900" b="1">
                <a:solidFill>
                  <a:srgbClr val="E8B43E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1309</Words>
  <Application>Microsoft Office PowerPoint</Application>
  <PresentationFormat>Widescreen</PresentationFormat>
  <Paragraphs>281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UM AR</cp:lastModifiedBy>
  <cp:revision>2</cp:revision>
  <dcterms:created xsi:type="dcterms:W3CDTF">2013-01-27T09:14:16Z</dcterms:created>
  <dcterms:modified xsi:type="dcterms:W3CDTF">2026-09-16T06:07:08Z</dcterms:modified>
  <cp:category/>
</cp:coreProperties>
</file>